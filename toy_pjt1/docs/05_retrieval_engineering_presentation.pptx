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검색 단계 자체를 개선하는 이야기입니다. 질문은 하나입니다: 검색기 하나로 충분한가?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naive RAG에서는 질문을 임베딩해서 가까운 chunk를 찾는 방식 하나만 썼습니다. 생성 품질은 검색된 chunk에 크게 좌우되므로 검색 후보를 잘 확보하는 단계가 중요합니다. 05번은 파이프라인에서 검색기 자체를 개선하는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청중이 RAG를 처음 접한다면 여기서 강조: naive RAG의 similarity_search는 이미 dense 검색이었다. 05번의 dense_search는 같은 동작에 이름만 붙인 baseline이다. 질문은 Dense는 문장 그대로 벡터화, BM25는 토큰으로 분해. 문서 쪽은 둘 다 chunk 본문(page_content)을 쓰며 메타데이터는 검색에 쓰이지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BM25 점수는 세 가지에 영향을 받습니다: 단어 등장 횟수, 단어 희귀도, chunk 길이. Dense는 cosine 거리라 작을수록 좋고 BM25는 클수록 좋습니다. 척도와 방향이 달라 점수를 직접 합칠 수 없으니 다음 슬라이드의 RRF처럼 순위로 합칩니다.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공정한 비교를 위해 같은 48개 chunk를 사용했습니다. 어느 쪽이 압도적이진 않았고, 상위권은 겹치지만 나머지 후보가 다르다는 점이 포인트입니다. 숫자는 chunk 번호입니다.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RRF는 점수를 버리고 순위만 씁니다. 각 검색기에서 1/(60+순위)를 더합니다. 코드는 보여주지 않고 순위를 합산해 정렬한다는 것만 설명합니다. (D1과 D3은 합산 점수가 같아 둘의 서열은 이 예시로는 정해지지 않습니다.)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1위(42)와 BM25 1위(34)는 서로 달랐고, Hybrid 1위는 양쪽 3위였던 chunk 14입니다. RRF가 의도대로 동작한 모습입니다. 다만 정답 라벨 없이 순위만 본 것이라 Hybrid가 더 좋다고 결론 내릴 수는 없습니다. 한국어 BM25는 \w+ 토크나이저라 조사가 붙은 채 토큰이 되어 한계가 있습니다 (형태소 분석기로 개선 여지).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정리: Dense는 의미를, BM25는 정확한 단어를, RRF는 두 순위를 결합합니다. 하지만 RRF는 문서 내용을 다시 판단하지 않으므로 다음 단계가 Reranking입니다.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RAG 실습 발표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Engineering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검색기 자체를 개선하는 방법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5B6F9E"/>
          </a:solidFill>
          <a:ln w="12700">
            <a:solidFill>
              <a:srgbClr val="5B6F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3383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A67C45"/>
          </a:solidFill>
          <a:ln w="12700">
            <a:solidFill>
              <a:srgbClr val="A67C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3383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3383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6B7686"/>
          </a:solidFill>
          <a:ln w="12700">
            <a:solidFill>
              <a:srgbClr val="6B76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검색기 하나로 충분할까?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Naive RAG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Document 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Query Rewriting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80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Multi Query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29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Retrieval Engineering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9776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Reranking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4114800" cy="3182112"/>
          </a:xfrm>
          <a:prstGeom prst="roundRect">
            <a:avLst>
              <a:gd name="adj" fmla="val 2299"/>
            </a:avLst>
          </a:prstGeom>
          <a:solidFill>
            <a:srgbClr val="2F3B4C"/>
          </a:solidFill>
          <a:ln w="12700">
            <a:solidFill>
              <a:srgbClr val="2F3B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5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RAG의 검색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질문을 임베딩해서 가까운 chunk를 찾는 방식 하나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34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C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검색기 하나로 충분한가?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vs BM25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4EEEC"/>
          </a:solidFill>
          <a:ln w="12700">
            <a:solidFill>
              <a:srgbClr val="E4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RAG의 검색도 사실 Dense였다. </a:t>
            </a:r>
            <a:pPr indent="0" marL="0">
              <a:buNone/>
            </a:pPr>
            <a:r>
              <a:rPr lang="en-US" sz="14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여기에 BM25라는 다른 축을 놓고 비교한다.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3383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처리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 쪽 준비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방식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F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문장 그대로 벡터화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본문을 벡터화 (Chroma에 저장됨)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벡터 거리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7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토큰 리스트로 분해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본문을 토큰화 (메모리의 bm25 객체)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단어 일치 기반 점수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같은 chunk 본문을 입력으로 쓴다. 벡터로 바꾸느냐, 단어로 쪼개느냐의 차이.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점수는 어떻게 정해지나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점수를 정하는 요소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F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벡터 거리 (이 컬렉션은 cosine 거리)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벡터와 chunk 벡터의 방향이 비슷할수록 거리가 작다 (= 의미가 가깝다)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7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질문 단어가 chunk에 나오는 횟수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많이 나올수록 점수가 높다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7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그 단어의 희귀도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chunk 중 적게 등장하는 단어일수록 가중치가 크다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7C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chunk 길이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chunk일수록 점수가 눌린다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37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337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 </a:t>
            </a:r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 · 0.25 · 0.31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작을수록 좋음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0" y="3337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33375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7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 </a:t>
            </a:r>
            <a:pPr indent="0" marL="0">
              <a:buNone/>
            </a:pPr>
            <a:r>
              <a:rPr lang="en-US" sz="14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· 8.7 · 5.1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클수록 좋음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33375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5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404164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F3B4C"/>
          </a:solidFill>
          <a:ln w="12700">
            <a:solidFill>
              <a:srgbClr val="2F3B4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04164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척도도, 방향도 다르다. </a:t>
            </a:r>
            <a:pPr indent="0" marL="0">
              <a:buNone/>
            </a:pPr>
            <a:r>
              <a:rPr lang="en-US" sz="1700" dirty="0">
                <a:solidFill>
                  <a:srgbClr val="D5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더하거나 평균낼 수 없으니 점수 대신 </a:t>
            </a:r>
            <a:pPr indent="0" marL="0">
              <a:buNone/>
            </a:pPr>
            <a:r>
              <a:rPr lang="en-US" sz="1700" b="1" dirty="0">
                <a:solidFill>
                  <a:srgbClr val="A5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순위(rank)</a:t>
            </a:r>
            <a:pPr indent="0" marL="0">
              <a:buNone/>
            </a:pPr>
            <a:r>
              <a:rPr lang="en-US" sz="1700" dirty="0">
                <a:solidFill>
                  <a:srgbClr val="D5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합친다.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질문, 다른 결과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880360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중심 질문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내부에서 AI가 업무에 어떻게 활용될 것으로 전망되나요?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2240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77440" y="2240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7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17320" y="30632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77440" y="30632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7560" y="30632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3756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023360" cy="2880360"/>
          </a:xfrm>
          <a:prstGeom prst="roundRect">
            <a:avLst>
              <a:gd name="adj" fmla="val 25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용어 중심 질문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536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One-Source Multi-Use는 어떤 맥락에서 제시되었나요?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240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23560" y="2240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2240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43800" y="224028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4380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7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23560" y="30632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2356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0" y="30632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43800" y="30632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4380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검색기 모두 상위 3개에 포함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상위권은 겹치지만 나머지 후보는 서로 다르다. 한쪽만 쓰면 다른 쪽이 찾은 문서를 놓친다.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RRF: 순위를 합친다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F3B4C"/>
          </a:solidFill>
          <a:ln w="12700">
            <a:solidFill>
              <a:srgbClr val="2F3B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RRF(d) = Σ  1 / (60 + rank)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순위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B6F9E"/>
          </a:solidFill>
          <a:ln w="12700">
            <a:solidFill>
              <a:srgbClr val="5B6F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1위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· 2위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B6F9E"/>
          </a:solidFill>
          <a:ln w="12700">
            <a:solidFill>
              <a:srgbClr val="5B6F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3위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7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순위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0" y="25146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A67C45"/>
          </a:solidFill>
          <a:ln w="12700">
            <a:solidFill>
              <a:srgbClr val="A67C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1위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3108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· 2위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0" y="37033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A67C45"/>
          </a:solidFill>
          <a:ln w="12700">
            <a:solidFill>
              <a:srgbClr val="A67C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3위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4EEEC"/>
          </a:solidFill>
          <a:ln w="12700">
            <a:solidFill>
              <a:srgbClr val="E4E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양쪽에 등장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D3 가 상위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한쪽에만 등장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· D4 는 아래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한쪽에서 1위인 문서보다 양쪽에서 꾸준히 상위인 문서가 유리하다.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C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· BM25 · Hybrid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303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7C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C8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C8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C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62C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질문: AI 기본법 시행령과 글로벌 규제 정합성은 어떻게 설명되나요? (숫자 = chunk 번호)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989320" y="1143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E4EEEC"/>
          </a:solidFill>
          <a:ln w="12700">
            <a:solidFill>
              <a:srgbClr val="E4E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216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4904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3위, BM25 3위 → Hybrid 1위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2286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ECE0"/>
          </a:solidFill>
          <a:ln w="12700">
            <a:solidFill>
              <a:srgbClr val="F4EC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67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6334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라벨이 없어 14가 실제 정답인지는 검증하지 않음. 평가는 09번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34290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E6EAF2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0" y="3502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BM25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37764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조사가 붙은 채 토큰화(AI가, 기본법은)되어 성능이 제한될 수 있음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정리와 다음 단계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A9B7D6"/>
          </a:solidFill>
          <a:ln w="12700">
            <a:solidFill>
              <a:srgbClr val="A9B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1887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의미를 찾는다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D9BE94"/>
          </a:solidFill>
          <a:ln w="12700">
            <a:solidFill>
              <a:srgbClr val="D9BE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38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38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단어를 찾는다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A5C8C0"/>
          </a:solidFill>
          <a:ln w="12700">
            <a:solidFill>
              <a:srgbClr val="A5C8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883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6883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둘의 장점을 함께 쓴다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D5DAE2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381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4381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검색 결과의 순위를 결합한다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1188720"/>
            <a:ext cx="3291840" cy="2798064"/>
          </a:xfrm>
          <a:prstGeom prst="roundRect">
            <a:avLst>
              <a:gd name="adj" fmla="val 2614"/>
            </a:avLst>
          </a:prstGeom>
          <a:solidFill>
            <a:srgbClr val="3A475A"/>
          </a:solidFill>
          <a:ln w="12700">
            <a:solidFill>
              <a:srgbClr val="3A47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B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RRF는 내용을 다시 판단하지 않는다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77840" y="2057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6B7686"/>
          </a:solidFill>
          <a:ln w="12700">
            <a:solidFill>
              <a:srgbClr val="6B76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RRF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267919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6B7686"/>
          </a:solidFill>
          <a:ln w="12700">
            <a:solidFill>
              <a:srgbClr val="6B76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2679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Top-N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3300984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5E8C85"/>
          </a:solidFill>
          <a:ln w="12700">
            <a:solidFill>
              <a:srgbClr val="5E8C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3300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Reranking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05는 후보를 잘 확보하는 단계, 06은 후보의 관련성을 다시 평가하는 단계.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 Retrieval Engineering</dc:title>
  <dc:subject>PptxGenJS Presentation</dc:subject>
  <dc:creator>PptxGenJS</dc:creator>
  <cp:lastModifiedBy>PptxGenJS</cp:lastModifiedBy>
  <cp:revision>1</cp:revision>
  <dcterms:created xsi:type="dcterms:W3CDTF">2026-10-06T07:01:07Z</dcterms:created>
  <dcterms:modified xsi:type="dcterms:W3CDTF">2026-10-06T07:01:07Z</dcterms:modified>
</cp:coreProperties>
</file>